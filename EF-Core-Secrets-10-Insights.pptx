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1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339" r:id="rId37"/>
    <p:sldId id="340" r:id="rId38"/>
    <p:sldId id="290" r:id="rId39"/>
    <p:sldId id="291" r:id="rId40"/>
    <p:sldId id="292" r:id="rId41"/>
    <p:sldId id="293" r:id="rId42"/>
    <p:sldId id="295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50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6-20T09:14:36.5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0 160,'933'0,"-785"5,24 10,115 5,162-20,-206-1,108 9,154-2,-305-7,-34 0,234 4,-292 6,96 22,27 2,-150-28,64-5,23 0,904 12,-722-14,-41-5,132 0,-272 9,-133-4,-1-1,15-4,40-4,486-17,-503 26,-9 1,55-8,-75 2,27-3,0 3,29 2,2245 7,-1399-3,-777-6,9 0,379 7,-530-1,1-2,-1 0,2-3,1 1,0 1,17 0,255 4,14 0,-204-6,27-1,-76 7,516-10,-148 6,-252 5,1033-1,-953 14,-25-1,-141-12,148 5,30 1,-237-4,0 2,0 2,3 1,1 1,0-2,12 0,121 1,53-10,-62 1,235 14,52 0,-142-13,81-1,-313-4,1-4,5-3,-69 10,51-5,0 2,3 3,0 1,51-10,-88 7,69-11,0 5,52 2,-134 8,245-4,207-30,-354 25,60 4,-6 4,2-8,37-10,27-14,-155 22,-17 2,7-5,-43 10,1 0,-1 2,1 1,21 3,-5-2,285 1,-311 0,0 0,9 3,28 3,-29-5,0 1,15 5,2 0,-20-5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20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1B98B-2FA9-9AE6-5962-D43743D4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04DE4-20C6-85A0-D082-F41344C15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563D5-647D-333F-5B08-C3AA7A3D8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4AE9B-EF23-C50E-CFA3-6C9785FB6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96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Obsah obrázku hák, design&#10;&#10;Popis byl vytvořen automaticky">
            <a:extLst>
              <a:ext uri="{FF2B5EF4-FFF2-40B4-BE49-F238E27FC236}">
                <a16:creationId xmlns:a16="http://schemas.microsoft.com/office/drawing/2014/main" id="{B217928E-1BCD-57AB-E15F-107279254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9116E4-6F6A-4236-B205-7EBF81DEDD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195020"/>
            <a:ext cx="5428591" cy="838233"/>
          </a:xfrm>
        </p:spPr>
        <p:txBody>
          <a:bodyPr anchor="ctr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Aptos SemiBold" panose="020B0004020202020204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Type your </a:t>
            </a:r>
            <a:r>
              <a:rPr lang="en-US" dirty="0" err="1"/>
              <a:t>ti</a:t>
            </a:r>
            <a:r>
              <a:rPr lang="cs-CZ" dirty="0"/>
              <a:t>t</a:t>
            </a:r>
            <a:r>
              <a:rPr lang="en-US" dirty="0"/>
              <a:t>le here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D1CE4D-5AA3-4F8D-BB4D-E04B1498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6" name="Zástupný text 13">
            <a:extLst>
              <a:ext uri="{FF2B5EF4-FFF2-40B4-BE49-F238E27FC236}">
                <a16:creationId xmlns:a16="http://schemas.microsoft.com/office/drawing/2014/main" id="{845418B6-3F48-4BB3-95CD-B33ACDC2F1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375" y="4764898"/>
            <a:ext cx="5425313" cy="48814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FDAD00"/>
                </a:solidFill>
                <a:latin typeface="Aptos SemiBold" panose="020B0004020202020204" pitchFamily="34" charset="0"/>
              </a:defRPr>
            </a:lvl1pPr>
          </a:lstStyle>
          <a:p>
            <a:pPr lvl="0"/>
            <a:r>
              <a:rPr lang="cs-CZ" dirty="0"/>
              <a:t>Name</a:t>
            </a:r>
          </a:p>
        </p:txBody>
      </p:sp>
      <p:sp>
        <p:nvSpPr>
          <p:cNvPr id="13" name="Zástupný text 11">
            <a:extLst>
              <a:ext uri="{FF2B5EF4-FFF2-40B4-BE49-F238E27FC236}">
                <a16:creationId xmlns:a16="http://schemas.microsoft.com/office/drawing/2014/main" id="{966569C8-862A-4685-AF99-952DCD94A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334226"/>
            <a:ext cx="5425313" cy="838233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77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Job title, Company</a:t>
            </a:r>
            <a:endParaRPr lang="cs-CZ" dirty="0"/>
          </a:p>
        </p:txBody>
      </p:sp>
      <p:sp>
        <p:nvSpPr>
          <p:cNvPr id="11" name="Zástupný text 10">
            <a:extLst>
              <a:ext uri="{FF2B5EF4-FFF2-40B4-BE49-F238E27FC236}">
                <a16:creationId xmlns:a16="http://schemas.microsoft.com/office/drawing/2014/main" id="{AD69D3F0-602C-E074-5180-B4AF8F42B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3187875"/>
            <a:ext cx="5429250" cy="711200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 dirty="0" err="1"/>
              <a:t>Lorem</a:t>
            </a:r>
            <a:r>
              <a:rPr lang="cs-CZ" dirty="0"/>
              <a:t> </a:t>
            </a:r>
            <a:r>
              <a:rPr lang="cs-CZ" dirty="0" err="1"/>
              <a:t>Ipsum</a:t>
            </a:r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2F2B4B5-C848-AAA5-590E-62C955AA59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89" y="962449"/>
            <a:ext cx="3183741" cy="59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10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F9BDF-EC61-4748-943F-2969A2C9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D36EB-8684-4588-9F05-D6667093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62DCB-8422-4AB3-BF0A-63343FF0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5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dpis 14">
            <a:extLst>
              <a:ext uri="{FF2B5EF4-FFF2-40B4-BE49-F238E27FC236}">
                <a16:creationId xmlns:a16="http://schemas.microsoft.com/office/drawing/2014/main" id="{E390D7A5-0B4D-9FA2-299F-55B8ED8D6D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EF </a:t>
            </a:r>
            <a:r>
              <a:rPr lang="cs-CZ" dirty="0" err="1"/>
              <a:t>Core</a:t>
            </a:r>
            <a:r>
              <a:rPr lang="cs-CZ" dirty="0"/>
              <a:t> </a:t>
            </a:r>
            <a:r>
              <a:rPr lang="cs-CZ" dirty="0" err="1"/>
              <a:t>Secrets</a:t>
            </a:r>
            <a:endParaRPr lang="cs-CZ" dirty="0"/>
          </a:p>
        </p:txBody>
      </p:sp>
      <p:sp>
        <p:nvSpPr>
          <p:cNvPr id="16" name="Zástupný text 15">
            <a:extLst>
              <a:ext uri="{FF2B5EF4-FFF2-40B4-BE49-F238E27FC236}">
                <a16:creationId xmlns:a16="http://schemas.microsoft.com/office/drawing/2014/main" id="{EAC5759F-4655-07F9-56AA-7867A39DB3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Woody Technology Studio LLC</a:t>
            </a:r>
            <a:endParaRPr lang="en-US" dirty="0"/>
          </a:p>
        </p:txBody>
      </p:sp>
      <p:sp>
        <p:nvSpPr>
          <p:cNvPr id="17" name="Zástupný text 16">
            <a:extLst>
              <a:ext uri="{FF2B5EF4-FFF2-40B4-BE49-F238E27FC236}">
                <a16:creationId xmlns:a16="http://schemas.microsoft.com/office/drawing/2014/main" id="{1C98B004-3A98-773F-6A8B-7B23E8E6E8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00" y="3187875"/>
            <a:ext cx="6329516" cy="711200"/>
          </a:xfrm>
        </p:spPr>
        <p:txBody>
          <a:bodyPr/>
          <a:lstStyle/>
          <a:p>
            <a:r>
              <a:rPr lang="cs-CZ" dirty="0"/>
              <a:t>10 INSIGHTS THAT WILL CHANGE HOW YOU CODE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19" name="Zástupný text 18">
            <a:extLst>
              <a:ext uri="{FF2B5EF4-FFF2-40B4-BE49-F238E27FC236}">
                <a16:creationId xmlns:a16="http://schemas.microsoft.com/office/drawing/2014/main" id="{531531D6-3522-A791-B991-335662165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cs-CZ" dirty="0"/>
              <a:t>Chris Woody Woodruff</a:t>
            </a:r>
          </a:p>
        </p:txBody>
      </p:sp>
    </p:spTree>
    <p:extLst>
      <p:ext uri="{BB962C8B-B14F-4D97-AF65-F5344CB8AC3E}">
        <p14:creationId xmlns:p14="http://schemas.microsoft.com/office/powerpoint/2010/main" val="2743714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2044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kern="0" spc="400" dirty="0">
                <a:solidFill>
                  <a:srgbClr val="F8B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 CORE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SECRETS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8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INSIGHTS THAT WILL CHANGE HOW YOU 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760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Woody Woodruff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172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8B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Founder, Woody Technology Studio LLC</a:t>
            </a:r>
          </a:p>
        </p:txBody>
      </p:sp>
      <p:sp>
        <p:nvSpPr>
          <p:cNvPr id="8" name="Text 6"/>
          <p:cNvSpPr/>
          <p:nvPr/>
        </p:nvSpPr>
        <p:spPr>
          <a:xfrm>
            <a:off x="8686800" y="22402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0" y="30632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0" y="38862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PITFALLS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341864" y="283464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341864" y="365760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Chris "Woody" Woodruff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Lead Instructor — intelligently.dev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83464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— Beyond Boundaries: C# Network Programming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years building .NET applications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MVP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Co-host — Breakpoint Show podcast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author — Mastering Entity Framework 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22890" y="2834640"/>
            <a:ext cx="30814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22890" y="3200400"/>
            <a:ext cx="308143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woodruff.dev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linkedin.com/in/chriswoodruff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bsky.app/profile/woodruff.dev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cwoodruff@live.com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USE IT EVERY 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simple LINQ queries and DbContext lies a powerful data access engine that can either enhance your app — or quietly undermine it.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4440" y="3200400"/>
            <a:ext cx="3474720" cy="2377440"/>
          </a:xfrm>
          <a:prstGeom prst="rect">
            <a:avLst/>
          </a:prstGeom>
          <a:solidFill>
            <a:srgbClr val="F8F8F8"/>
          </a:solidFill>
          <a:ln w="38100">
            <a:solidFill>
              <a:srgbClr val="F8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32918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8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417320" y="4572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most teams choose for new .NET apps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3200400"/>
            <a:ext cx="3474720" cy="2377440"/>
          </a:xfrm>
          <a:prstGeom prst="rect">
            <a:avLst/>
          </a:prstGeom>
          <a:solidFill>
            <a:srgbClr val="F8F8F8"/>
          </a:solidFill>
          <a:ln w="38100">
            <a:solidFill>
              <a:srgbClr val="F8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32918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8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029200" y="4572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perf problems come from query shape, not the DB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58200" y="3200400"/>
            <a:ext cx="3474720" cy="2377440"/>
          </a:xfrm>
          <a:prstGeom prst="rect">
            <a:avLst/>
          </a:prstGeom>
          <a:solidFill>
            <a:srgbClr val="F8F8F8"/>
          </a:solidFill>
          <a:ln w="38100">
            <a:solidFill>
              <a:srgbClr val="F8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58200" y="32918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89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8641080" y="4572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that change how you write data access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10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AsNoTracking()  —  hidden superpower &amp; silent bug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The change tracker &amp; lazy loading, demystified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Include() — cartesian explosions and split queries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063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Projections — the highest-leverage performance trick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566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The N+1 problem — and three ways to kill 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Compiled queries — when microseconds matter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057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Raw SQL and bulk operations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2560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Interceptors — EF Core’s hidden plugin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3063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DbContext lifetimes, DI, and transactions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3566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Debug like a pro — and know when EF Core isn’t the right tool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  •  10 insights  •  ~6 demos  •  questions at the end (and on Bluesky after)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AsNoTracking()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hidden superpower — and a silent bug.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01  •  ASNOTRACKING()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DEFAULT YOU PROBABLY FORGOT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you write is tracked. Every entity goes into the change tracker. Every property is snapshotted. Even for a read-only API endpoint.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10652760" cy="333756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— every Album is tracked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albums = db.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Albums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Read-only path — skip the tracker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albums = db.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AsNoTracking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configure globally for the whole context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OnConfiguring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DbContextOptionsBuilder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UseSqlServer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ConnectionString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UseQueryTrackingBehavior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QueryTrackingBehavior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NoTracking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 →  /as-no-tracking-perf  •  tracked vs no-tracked benchmark, allocation deltas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01  •  ASNOTRACKING()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SILENT BUG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developer wrote: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developer expected: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525780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905" tIns="1905" rIns="1905" bIns="190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album = db.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AsNoTracking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=&gt; a.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id);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"Updated"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nothing persisted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525780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905" tIns="1905" rIns="1905" bIns="190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Because AsNoTracking()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means EF will not detect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changes on this entity.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Two fixes: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1. drop AsNoTracking()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2. db.Update(album)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before SaveChanges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AsNoTracking() on read paths. Tracked on write paths. Never mix on the same entity.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Change Tracker &amp; Lazy Loading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actually happening when you call SaveChanges()?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02  •  CHANGE TRACKING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TRACKER DOES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65276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 = 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ChinookContext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album = db.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Albums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=&gt; a.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1);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PrintTracker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(db);   </a:t>
            </a: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entity, state: Unchanged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 Title"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PrintTracker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(db);   </a:t>
            </a: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entity, state: Modified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</a:t>
            </a: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emits UPDATE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PrintTracker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db) =&gt;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ChangeTracker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Entries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 =&gt;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$"{e.Entity.GetType().Name} : {e.State}"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 →  /change-tracker-explorer  •  walks ChangeTracker.Entries() through the entity lifecycle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02  •  LAZY LOADING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TRAP THAT LOOKS INNOCENT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65276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Looks fine. One query, right?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invoices = context.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=&gt; i.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InvoiceDate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this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YearFirstDay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invoice 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invoices)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$"{invoice.Id}  {invoice.Customer.Company}"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^^^^^^^^^^^^^^^^^^^^^^^^^^^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if Customer is virtual + lazy proxies are enabled,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this fires ONE QUERY PER ITERATION.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loading hides N+1 behind a property access. Eager-load with Include() or project with Select().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Include() — The Cartesian Trap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Include is fine. Three Includes destroys the query plan.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03  •  INCLUDE()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CARTESIAN EXPLOSION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65276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Two collection Includes on the same parent.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EF generates ONE big JOIN — every Track is repeated for every Genre.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artists = context.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=&gt; a.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Albums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ThenInclude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 =&gt; al.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=&gt; a.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Genres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=&gt; a.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"US"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50 artists  ×  10 albums  ×  12 tracks  ×  3 genres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 180,000 rows pulled over the wire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 ~50,000 actual entities after de-duplication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warns about this at runtime if logging is on. Most teams never see the warning.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03  •  INCLUDE()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FIXES: SPLIT QUERY &amp; FILTER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AsSplitQuery — one query per collection: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Include — load only what you need: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525780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905" tIns="1905" rIns="1905" bIns="190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artists = context.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=&gt; a.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Albums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ThenInclude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 =&gt; al.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=&gt; a.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Genres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AsSplitQuery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round trips — but each query is small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and the SQL Server cache loves them.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525780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905" tIns="1905" rIns="1905" bIns="190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artists = context.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=&gt; a.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 =&gt; al.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2020)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 =&gt; al.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 and order at the SQL layer,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in memory after the fact.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demos: /split-queries  and  /filtered-include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highest-leverage performance technique in EF Core.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04  •  PROJECTION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 * IS EXPENSIVE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Hydrating the full Employee entity: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actually wanted: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525780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905" tIns="1905" rIns="1905" bIns="190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 </a:t>
            </a: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translates 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ReportsTo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BirthDate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HireDate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PostalCode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Fax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525780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905" tIns="1905" rIns="1905" bIns="190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 </a:t>
            </a: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EmployeeListItem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e.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e.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e.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e.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translates 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' +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 →  /projections-perf  •  full hydration vs anonymous type vs DTO, with BenchmarkDotNet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04  •  PROJECTION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WINS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columns pulled over the wire.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SQL Server can satisfy the query from a non-clustered index instead of the table.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memory allocated.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DTOs are 5-20× smaller than fully-hydrated entities with all navs.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tracking overhead.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Projections to non-entity types are automatically AsNoTracking.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SQL.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What you Select is what the database returns. No surprises from lazy loading.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 nothing else from this talk: project to DTOs on every read endpoint.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N+1 Problem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EF Core performance bug — and three ways to kill 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05  •  N+1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SNEAKS 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65276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customers = context.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</a:t>
            </a: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query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 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= customer.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 queries (lazy)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=&gt; i.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InvoiceDate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2025)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=&gt; i.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$"{customer.Name}  {total:C}"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SQL log: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 * FROM Customers           (1)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 * FROM Invoices WHERE ...  (N — one per customer)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1,000 customers  →  1,001 round trips  →  4-second page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 →  /n-plus-one-problem  •  reproduce the bug with logging, then three fixes side by side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05  •  N+1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WAYS TO KILL 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Eager-load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828800"/>
            <a:ext cx="3474720" cy="37490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customers = ctx.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=&gt; c.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query (or 2 with split)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Project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474720" cy="37490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rows = ctx.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=&gt; </a:t>
            </a:r>
            <a:r>
              <a:rPr lang="en-US" sz="11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=&gt; i.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2025)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=&gt; i.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query, only the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 actually need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5820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Batched 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200" y="1828800"/>
            <a:ext cx="3474720" cy="37490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ids = customers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=&gt; c.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invoices = ctx.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=&gt; ids.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ToLookup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=&gt; i.</a:t>
            </a:r>
            <a:r>
              <a:rPr lang="en-US" sz="11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</a:t>
            </a: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round trips, no JOIN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Best when join cardinality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would explode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by cardinality: Include for low fan-out, Project for read endpoints, Batched IN when JOINs would explode.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Compiled Queries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you’ve already optimized everything else.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06  •  COMPILED QUERIES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EF.COMPILEASYNCQUERY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65276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 once, pay zero per-call cost for query translation.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ChinookContext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int,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GetAlbumById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CompileAsyncQuery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ChinookContext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ctx, int id) =&gt;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ctx.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Albums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FirstOrDefault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=&gt; a.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id));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id) =&gt; </a:t>
            </a:r>
            <a:r>
              <a:rPr lang="en-US" sz="16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GetAlbumById</a:t>
            </a: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(_ctx, id);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Trade-off: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• static parameter signature (no IQueryable composition)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• Include() works; AsNoTracking works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• benchmarks consistently show 20-40% throughput gain on hot paths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• worth it for paths called &gt; 10,000 / second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• not worth it for endpoints called once per page load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demo: /compiled-query  •  also see /compiled-models for the full DbContext optimize flow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Raw SQL &amp; Bulk Operations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LINQ provider can’t express what you need.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07  •  RAW SQL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FROMSQL — PARAMETERIZED, SAFE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65276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city = 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"Redmond"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customers = </a:t>
            </a: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context.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FromSql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$"SELECT * FROM Customers WHERE City = {city}"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ToListAsync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Sent to SQL Server as: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exec sp_executesql N'SELECT * FROM Customers WHERE City = @p0',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 N'@p0 nvarchar(50)', @p0 = N'Redmond'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Interpolated string → parameterized query.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concatenation would be SQL injection. Don’t do it.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Sproc shortcut: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artist = </a:t>
            </a: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context.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Artists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FromSql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$"EXEC dbo.GetArtistById {id}"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ToListAsync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demo: /from_sql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07  •  BULK 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EXECUTEUPDATE / EXECUTEDELETE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way — load, mutate, save: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7+ — set-based, no load: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525780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905" tIns="1905" rIns="1905" bIns="190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Pulls every matching row into memory,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updates each entity, fires N UPDATEs.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stale = </a:t>
            </a: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 =&gt; l.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cutoff)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ToListAsync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 </a:t>
            </a: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stale)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Archived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525780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905" tIns="1905" rIns="1905" bIns="1905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UPDATE statement.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Zero entities materialised.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 =&gt; l.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cutoff)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ExecuteUpdateAsync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 =&gt; 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SetProperty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 =&gt; l.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Archived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for delete: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 =&gt; l.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cutoff)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ExecuteDeleteAsync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demo: /executeupdate-executedelete  •  ETL jobs, soft-deletes, archive sweeps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Interceptors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Core’s hidden plugin model.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08  •  INTERCEPTORS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SAVECHANGES INTERCEPTOR — 30-LINE AUDIT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65276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AuditingInterceptor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SaveChangesInterceptor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ValueTask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InterceptionResult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SavingChangesAsync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DbContextEventData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event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InterceptionResult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 result,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CancellationToken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cancellation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 = event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ChangeTracker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Entries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IAuditable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(en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EntityState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en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UtcNow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(en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EntityState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Modified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en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UpdatedAt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UtcNow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SavingChangesAsync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result, cancellation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up with options.AddInterceptors(...).  Existing demos: /interception-db-ops  •  /savedchanges-interception-auditing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08  •  INTERCEPTORS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OTHER THINGS YOU CAN 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DbCommandInterceptor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Rewrite SQL, add multi-tenant WHERE clauses, log slow queries.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DbConnectionInterceptor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Open per-tenant connections, set SQL Server session variables.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DbTransactionInterceptor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Hook BeginTransaction / Commit / Rollback for distributed tracing.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IMaterializationInterceptor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Run code when an entity is materialised — e.g., decrypt PII columns.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concerns belong in interceptors. Not in every repository.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DbContext Lifetime, DI, Transactions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mistakes at the foundation.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09  •  DI LIFETIMES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WAYS TO REGISTER A DBCONTEXT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65276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(1) The default — scoped per HTTP request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AddDbContext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ChinookContext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&gt;(o =&gt;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UseSqlServer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(conn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(2) Factory — when you need short-lived contexts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(Blazor Server, background services, parallel work)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AddDbContextFactory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ChinookContext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&gt;(o =&gt;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UseSqlServer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(conn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usage: using var ctx = factory.CreateDbContext();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(3) Pooled factory — for high-throughput APIs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AddPooledDbContextFactory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ChinookContext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&gt;(o =&gt;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UseSqlServer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(conn</a:t>
            </a:r>
            <a:r>
              <a:rPr lang="en-US" sz="14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same surface, but contexts come from a reset pool.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 →  /dbcontext-lifetimes-di  •  also covers the captive-dependency anti-pattern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09  •  POOLING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DBCONTEXT POOLING PAYS FOR ITSELF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Allocation: 4.63 KB pooled vs 50.38 KB non-pooled  —  a 10× reduction per request.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2194560"/>
          <a:ext cx="10058400" cy="1371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8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(μs)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8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StdDev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8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Allocated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9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929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WithoutContextPooling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92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701.6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92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78.48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92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50.38 KB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929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WithContextPooling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92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350.1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92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14.64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9292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4.63 KB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23444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BenchmarkDotNet — single-row Find() by primary key, 1,000 iterations.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demo: /context-pooling.  Always benchmark on YOUR app — pooling shines when context creation is the bottleneck.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09  •  TRANSACTIONS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TRANSACTIONS ACROSS MULTIPLE SAVECHANGES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652760" cy="42062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transacti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BeginTransactionAsync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(order);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a savepoint if a partial rollback is acceptable.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transacti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CreateSavepointAsync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"after-order"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ctx.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OrderLines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transacti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CommitAsync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transacti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RollbackAsync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</a:t>
            </a: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RollbackToSavepointAsync(...)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 →  /transactions-and-savechanges  •  scopes, savepoints, and the async-TransactionScope footgun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B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Debug Like a Pro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know when EF Core isn’t the right tool.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10  •  DEBUGGING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LOGTO + TAGWITH + SENSITIVE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10652760" cy="429768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AddDbContext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ChinookContext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&gt;(o =&gt; 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UseSqlServer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(conn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LogTo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LogLevel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EnableSensitiveDataLogging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</a:t>
            </a: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dev only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EnableDetailedErrors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Then in your queries: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hot = </a:t>
            </a:r>
            <a:r>
              <a:rPr lang="en-US" sz="1300" b="1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Albums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=&gt; a.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IsFeatured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TagWith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"AlbumsController.GetFeatured"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300" dirty="0">
                <a:solidFill>
                  <a:srgbClr val="2B91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ToListAsync</a:t>
            </a: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SQL output: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-- AlbumsController.GetFeatured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SELECT [a].[Id], [a].[Title], 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FROM [Albums] AS [a]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WHERE [a].[IsFeatured] =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 the tag shows up in SQL Profiler / Extended Events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8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— find the exact LINQ source of any slow query.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demos: /simple-logging-improved-diagnostics  •  /query-tags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10  •  EXECUTION PLANS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THE PLAN, NOT JUST THE 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query in your logs?  Don’t guess.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Copy the SQL from the EF Core log.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Paste into SSMS, </a:t>
            </a:r>
            <a:r>
              <a:rPr lang="en-US" sz="1600" dirty="0" err="1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</a:t>
            </a: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MSSQL extension or </a:t>
            </a:r>
            <a:r>
              <a:rPr lang="en-US" sz="1600" dirty="0" err="1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DataGrip</a:t>
            </a: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/Rider Database Window.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Turn on Include Actual Execution Plan (Ctrl+M).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Run the query. Read the plan right-to-left.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for: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Table or Index Scans on tables with &gt; a few thousand rows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Key Lookups in a hot path  →  covering index opportunity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Hash Match where you expected a Nested Loop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Estimated rows wildly different from actual rows  →  stale stats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writes SQL.  SQL Server runs SQL.  The plan is where you debug — not the LINQ.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91D138-9D96-437E-9921-7AA17B61FA98}"/>
              </a:ext>
            </a:extLst>
          </p:cNvPr>
          <p:cNvSpPr/>
          <p:nvPr/>
        </p:nvSpPr>
        <p:spPr>
          <a:xfrm>
            <a:off x="400787" y="142540"/>
            <a:ext cx="1124392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SELECT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c.CustomerId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t.Name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TrackName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a.Title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AlbumName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ar.Name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ArtistName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i.InvoiceDate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FROM Customer AS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     INNER JOIN Invoice AS i 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c.CustomerId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i.CustomerId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     INNER JOIN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InvoiceLine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i.InvoiceId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il.InvoiceId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     INNER JOIN Track AS t 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il.TrackId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t.TrackId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     INNER JOIN Album AS a 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t.AlbumId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a.AlbumId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     INNER JOIN Artist 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ON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a.ArtistId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ar.ArtistId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WHERE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c.CustomerId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 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ORDER BY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AlbumName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52891-5548-4C5A-9974-960130898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4888"/>
            <a:ext cx="12192000" cy="259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964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FB0A1-901F-45F3-914B-4808B0A60D7F}"/>
              </a:ext>
            </a:extLst>
          </p:cNvPr>
          <p:cNvSpPr/>
          <p:nvPr/>
        </p:nvSpPr>
        <p:spPr>
          <a:xfrm>
            <a:off x="243840" y="63030"/>
            <a:ext cx="1170432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SELECT DISTINCT pp.[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nameFirst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AS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NameFirst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], pp.[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nameLast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AS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NameLast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franchName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AS [Franchise]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FROM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SeriesPost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AS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sp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INNER JOIN [Teams] AS 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	ON (sp.[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teamIDwinner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= t.[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teamID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]) AND (sp.[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lgIDwinner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= t.[lgID]) AND (sp.[yearID] = t.[yearID])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INNER JOIN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TeamsFranchises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AS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tf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	ON t.[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franchID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franchID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INNER JOIN [Pitching] AS 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	ON (t.[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teamID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 = p.[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teamID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]) AND (t.[lgID] = p.[lgID]) AND (t.[yearID] = p.[yearID])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INNER JOIN [People] AS pp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	ON p.[playerID] = pp.[playerID]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ket_Deco"/>
                <a:ea typeface="+mn-ea"/>
                <a:cs typeface="+mn-cs"/>
              </a:rPr>
              <a:t>WHERE (sp.[round] = 'WS') AND (sp.[yearID] = 2018)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79176F-FFAF-4054-887C-B5B5AFAF7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92338"/>
            <a:ext cx="12192000" cy="34656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199339-F740-4D4E-9805-7DA775443643}"/>
                  </a:ext>
                </a:extLst>
              </p14:cNvPr>
              <p14:cNvContentPartPr/>
              <p14:nvPr/>
            </p14:nvContentPartPr>
            <p14:xfrm>
              <a:off x="41889" y="3839132"/>
              <a:ext cx="8451720" cy="109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199339-F740-4D4E-9805-7DA7754436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111" y="3731132"/>
                <a:ext cx="8559360" cy="3250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8F13A6-07E0-4B99-8B40-8AE6E8359343}"/>
              </a:ext>
            </a:extLst>
          </p:cNvPr>
          <p:cNvSpPr/>
          <p:nvPr/>
        </p:nvSpPr>
        <p:spPr>
          <a:xfrm>
            <a:off x="4048787" y="4899619"/>
            <a:ext cx="1349596" cy="117356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072B2B-88FC-444C-B5A3-4DFBCE941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289" y="1453492"/>
            <a:ext cx="3295363" cy="2786577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D17BDF1-ECA2-4066-84B6-4B3EB6D4F6A8}"/>
              </a:ext>
            </a:extLst>
          </p:cNvPr>
          <p:cNvSpPr/>
          <p:nvPr/>
        </p:nvSpPr>
        <p:spPr>
          <a:xfrm rot="20049201">
            <a:off x="5242138" y="4458835"/>
            <a:ext cx="1196301" cy="393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66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228600"/>
            <a:ext cx="10652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10  •  REALITY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EF CORE ISN’T THE RIGHT TOOL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EF Core when: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something else when: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5257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have a domain model with relationships.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need migrations and schema versioning.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want change tracking, audit hooks, optimistic concurrency.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Most reads are point lookups or small lists.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value developer productivity over ten microseconds.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5257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You’re running thousands of identical reads per second on a single shape.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  Dapper.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You’re doing bulk ETL of millions of rows.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  SqlBulkCopy / ADO</a:t>
            </a:r>
            <a:r>
              <a:rPr lang="en-US" sz="140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/ ZZZ </a:t>
            </a: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EF </a:t>
            </a:r>
            <a:r>
              <a:rPr lang="en-US" sz="140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Extensions.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need to stream a result set you cannot fit in memory.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  ADO.NET DataReader.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data layer is a thin pass-through over views and sprocs.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  Dapper.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5760720"/>
            <a:ext cx="10652760" cy="502920"/>
          </a:xfrm>
          <a:prstGeom prst="rect">
            <a:avLst/>
          </a:prstGeom>
          <a:solidFill>
            <a:srgbClr val="F8B400">
              <a:alpha val="30000"/>
            </a:srgbClr>
          </a:solidFill>
          <a:ln w="12700">
            <a:solidFill>
              <a:srgbClr val="D8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5760720"/>
            <a:ext cx="10378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DEMO  →  /ef-vs-dapper-vs-ado  •  same hot-path read, three implementations, BenchmarkDotNet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10 INSIGHTS, RECAPPED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AsNoTracking() on read paths.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Lazy loading hides N+1 behind a property access.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Include() is fine alone, dangerous in pairs — use AsSplitQuery.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6517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Project to DTOs on every read endpoint.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N+1 has three fixes: Include, Project, Batched IN.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4747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Compile queries on hot paths called 10k+ times per second.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886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ExecuteUpdate / ExecuteDelete skip the load.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429768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Cross-cutting concerns belong in interceptors.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7091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Pool DbContexts. Wrap multi-step writes in transactions.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51206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 Read the execution plan. Reach past EF Core when it earns it.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34440" y="502920"/>
            <a:ext cx="10652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2929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SECRETS  •  CHRIS WOODRUFF  •  intelligently.dev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github.com/cwoodruff/EFCoreDemos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651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DOCS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30175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learn.microsoft.com/ef/core/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devblogs.microsoft.com/dotnet/tag/entity-framework/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2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github.com/dotnet/efcore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8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DEEPER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4846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intelligently.dev — Mastering Entity Framework Core (full course)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Boundaries: C# Network Programming (book)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kern="0" spc="400" dirty="0">
                <a:solidFill>
                  <a:srgbClr val="F8B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37160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woodruff.dev  •  @woodruff.dev on Bluesky  •  cwoodruff@live.com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code: github.com/cwoodruff/EFCoreDemos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0661B-50AE-1752-E205-46ACF92E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CF871D-61D0-FAB6-68BB-4D78DDC010A2}"/>
              </a:ext>
            </a:extLst>
          </p:cNvPr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8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C95820-69BC-DDF9-923D-09B144D70AB9}"/>
              </a:ext>
            </a:extLst>
          </p:cNvPr>
          <p:cNvSpPr/>
          <p:nvPr/>
        </p:nvSpPr>
        <p:spPr>
          <a:xfrm>
            <a:off x="1371600" y="568796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woodruff.dev  •  @woodruff.dev on Bluesky  •  cwoodruff@live.com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F54EF0-72C7-B0C5-4766-690DC6F4540B}"/>
              </a:ext>
            </a:extLst>
          </p:cNvPr>
          <p:cNvSpPr/>
          <p:nvPr/>
        </p:nvSpPr>
        <p:spPr>
          <a:xfrm>
            <a:off x="1371600" y="623660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8B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code: github.com/cwoodruff/EFCoreDemos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96E881-8B68-828C-DDB0-BFB05045B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9" y="154857"/>
            <a:ext cx="5147187" cy="514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24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4184</Words>
  <Application>Microsoft Macintosh PowerPoint</Application>
  <PresentationFormat>Widescreen</PresentationFormat>
  <Paragraphs>656</Paragraphs>
  <Slides>42</Slides>
  <Notes>39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 SemiBold</vt:lpstr>
      <vt:lpstr>Arial</vt:lpstr>
      <vt:lpstr>Arial Black</vt:lpstr>
      <vt:lpstr>Calibri</vt:lpstr>
      <vt:lpstr>Consolas</vt:lpstr>
      <vt:lpstr>Market_Deco</vt:lpstr>
      <vt:lpstr>Office Theme</vt:lpstr>
      <vt:lpstr>EF Core Secrets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intelligently.dev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 Core Secrets: 10 Insights That Will Change How You Code</dc:title>
  <dc:subject>Entity Framework Core deep-dive conference talk</dc:subject>
  <dc:creator>Chris "Woody" Woodruff</dc:creator>
  <cp:lastModifiedBy>Chris Woodruff</cp:lastModifiedBy>
  <cp:revision>3</cp:revision>
  <dcterms:created xsi:type="dcterms:W3CDTF">2026-05-14T00:05:32Z</dcterms:created>
  <dcterms:modified xsi:type="dcterms:W3CDTF">2026-05-27T04:20:05Z</dcterms:modified>
</cp:coreProperties>
</file>